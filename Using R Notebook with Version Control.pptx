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6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3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999280" y="982080"/>
            <a:ext cx="1890000" cy="489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295280" y="982080"/>
            <a:ext cx="7432200" cy="489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816D0C-33EE-4F79-9E19-7CD617BEB948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2" name="Straight Connector 13"/>
          <p:cNvCxnSpPr/>
          <p:nvPr/>
        </p:nvCxnSpPr>
        <p:spPr>
          <a:xfrm>
            <a:off x="8863560" y="990360"/>
            <a:ext cx="720" cy="487764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4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8" name="Straight Connector 6"/>
          <p:cNvCxnSpPr/>
          <p:nvPr/>
        </p:nvCxnSpPr>
        <p:spPr>
          <a:xfrm>
            <a:off x="1396080" y="242136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480" cy="331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BCB753-96BB-4898-B450-E0BFBFA8CEF1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25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7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014920" y="1752480"/>
            <a:ext cx="8157960" cy="182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014920" y="3845880"/>
            <a:ext cx="815796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7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8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9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642C544-41C4-42D7-A517-CBAB88928651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4" name="Straight Connector 15"/>
          <p:cNvCxnSpPr/>
          <p:nvPr/>
        </p:nvCxnSpPr>
        <p:spPr>
          <a:xfrm>
            <a:off x="2012400" y="3710520"/>
            <a:ext cx="81640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36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8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40" name="Straight Connector 7"/>
          <p:cNvCxnSpPr/>
          <p:nvPr/>
        </p:nvCxnSpPr>
        <p:spPr>
          <a:xfrm>
            <a:off x="1396080" y="242136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298520" y="2560320"/>
            <a:ext cx="4717440" cy="33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181200" y="2560320"/>
            <a:ext cx="4717440" cy="33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0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11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12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EE211F-E893-430A-8CD0-29F8D8A2ACD3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48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0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1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295280" y="2658600"/>
            <a:ext cx="4717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72"/>
              </a:spcBef>
              <a:spcAft>
                <a:spcPts val="6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accent1"/>
                </a:solidFill>
                <a:effectLst/>
                <a:uFillTx/>
                <a:latin typeface="Garamond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672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accent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295280" y="3243240"/>
            <a:ext cx="4717440" cy="263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80840" y="2658600"/>
            <a:ext cx="4717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72"/>
              </a:spcBef>
              <a:spcAft>
                <a:spcPts val="6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accent1"/>
                </a:solidFill>
                <a:effectLst/>
                <a:uFillTx/>
                <a:latin typeface="Garamond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672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accent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80840" y="3243240"/>
            <a:ext cx="4717440" cy="263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13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14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15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55ECD5B-4E25-455B-B1FE-564A40A4A245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60" name="Straight Connector 17"/>
          <p:cNvCxnSpPr/>
          <p:nvPr/>
        </p:nvCxnSpPr>
        <p:spPr>
          <a:xfrm>
            <a:off x="1396080" y="242136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62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4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dt" idx="16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17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9C3B95-B56E-4F5D-9061-BD66CAD068B9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0" name="Straight Connector 13"/>
          <p:cNvCxnSpPr/>
          <p:nvPr/>
        </p:nvCxnSpPr>
        <p:spPr>
          <a:xfrm>
            <a:off x="1396080" y="242136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72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3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4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6" name="PlaceHolder 1"/>
          <p:cNvSpPr>
            <a:spLocks noGrp="1"/>
          </p:cNvSpPr>
          <p:nvPr>
            <p:ph type="dt" idx="19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ftr" idx="20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21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A3F348B-A951-4B8C-AC65-3080551071DF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80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1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2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3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7720" cy="137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418720" y="982080"/>
            <a:ext cx="5468760" cy="489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1293840" y="3031200"/>
            <a:ext cx="3717720" cy="243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22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23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24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07C1123-7096-4012-87F5-5E581E0B2770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0" name="Straight Connector 15"/>
          <p:cNvCxnSpPr/>
          <p:nvPr/>
        </p:nvCxnSpPr>
        <p:spPr>
          <a:xfrm>
            <a:off x="1396080" y="2912400"/>
            <a:ext cx="351504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92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3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4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5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295280" y="1883880"/>
            <a:ext cx="6240960" cy="137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8094960" y="1041480"/>
            <a:ext cx="3062520" cy="4774320"/>
          </a:xfrm>
          <a:prstGeom prst="rect">
            <a:avLst/>
          </a:prstGeom>
          <a:noFill/>
          <a:ln w="57240">
            <a:solidFill>
              <a:schemeClr val="dk1">
                <a:lumMod val="50000"/>
                <a:lumOff val="50000"/>
              </a:schemeClr>
            </a:solidFill>
            <a:miter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1295280" y="3255480"/>
            <a:ext cx="624096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ct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5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6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27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FBFAD9-3569-4024-82DB-52B5C538FD00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03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4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5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6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07" name="Group 6"/>
          <p:cNvGrpSpPr/>
          <p:nvPr/>
        </p:nvGrpSpPr>
        <p:grpSpPr>
          <a:xfrm>
            <a:off x="-16920" y="0"/>
            <a:ext cx="12230280" cy="6855480"/>
            <a:chOff x="-16920" y="0"/>
            <a:chExt cx="12230280" cy="6855480"/>
          </a:xfrm>
        </p:grpSpPr>
        <p:pic>
          <p:nvPicPr>
            <p:cNvPr id="108" name="Picture 15" descr="HD-PanelTitleR1.png"/>
            <p:cNvPicPr/>
            <p:nvPr/>
          </p:nvPicPr>
          <p:blipFill>
            <a:blip r:embed="rId6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9" name="Rectangle 25"/>
            <p:cNvSpPr/>
            <p:nvPr/>
          </p:nvSpPr>
          <p:spPr>
            <a:xfrm>
              <a:off x="2328480" y="1540800"/>
              <a:ext cx="7543080" cy="38347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0" name="Picture 16" descr="HDRibbonTitle-UniformTrim.png"/>
            <p:cNvPicPr/>
            <p:nvPr/>
          </p:nvPicPr>
          <p:blipFill>
            <a:blip r:embed="rId7"/>
            <a:stretch/>
          </p:blipFill>
          <p:spPr>
            <a:xfrm>
              <a:off x="-16920" y="3147480"/>
              <a:ext cx="2477160" cy="612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" name="Picture 19" descr="HDRibbonTitle-UniformTrim.png"/>
            <p:cNvPicPr/>
            <p:nvPr/>
          </p:nvPicPr>
          <p:blipFill>
            <a:blip r:embed="rId8"/>
            <a:stretch/>
          </p:blipFill>
          <p:spPr>
            <a:xfrm>
              <a:off x="9736200" y="3147480"/>
              <a:ext cx="2477160" cy="6120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692440" y="1871280"/>
            <a:ext cx="6814800" cy="151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dt" idx="28"/>
          </p:nvPr>
        </p:nvSpPr>
        <p:spPr>
          <a:xfrm>
            <a:off x="7983360" y="5037840"/>
            <a:ext cx="89676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ftr" idx="29"/>
          </p:nvPr>
        </p:nvSpPr>
        <p:spPr>
          <a:xfrm>
            <a:off x="2692440" y="5037840"/>
            <a:ext cx="52138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sldNum" idx="30"/>
          </p:nvPr>
        </p:nvSpPr>
        <p:spPr>
          <a:xfrm>
            <a:off x="8956800" y="5037840"/>
            <a:ext cx="55044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E82A0F-A8AF-465E-A852-4C3A77E3DCF5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16" name="Straight Connector 14"/>
          <p:cNvCxnSpPr/>
          <p:nvPr/>
        </p:nvCxnSpPr>
        <p:spPr>
          <a:xfrm>
            <a:off x="2692080" y="3521880"/>
            <a:ext cx="681660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7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the outline text format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Outline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Outline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Outline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Outline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Sixth Outline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Seventh Outline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19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0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1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2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95280" y="4815360"/>
            <a:ext cx="960912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1041480" y="1041480"/>
            <a:ext cx="10105200" cy="3335040"/>
          </a:xfrm>
          <a:prstGeom prst="rect">
            <a:avLst/>
          </a:prstGeom>
          <a:noFill/>
          <a:ln w="57240">
            <a:solidFill>
              <a:schemeClr val="dk1">
                <a:lumMod val="50000"/>
                <a:lumOff val="50000"/>
              </a:schemeClr>
            </a:solidFill>
            <a:miter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1295280" y="5382000"/>
            <a:ext cx="9609120" cy="49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 idx="31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ftr" idx="32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sldNum" idx="33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C19826-25BC-49E4-B5C6-9A6FAD2D17AE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30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1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2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303920" y="982080"/>
            <a:ext cx="9591840" cy="295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1303920" y="4343400"/>
            <a:ext cx="9591840" cy="153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dt" idx="34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ftr" idx="35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sldNum" idx="36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F4508C4-FCFB-4763-9E17-27C8F2C7F574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39" name="Straight Connector 14"/>
          <p:cNvCxnSpPr/>
          <p:nvPr/>
        </p:nvCxnSpPr>
        <p:spPr>
          <a:xfrm>
            <a:off x="1396080" y="414000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41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2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3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4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446120" y="982080"/>
            <a:ext cx="9295560" cy="236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1674720" y="3352680"/>
            <a:ext cx="8838360" cy="58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1295280" y="4343400"/>
            <a:ext cx="9609120" cy="153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37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ftr" idx="38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sldNum" idx="39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6FA24AB-7685-4319-96AA-9D96A7903200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861840" y="87984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10600200" y="28278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Straight Connector 18"/>
          <p:cNvCxnSpPr/>
          <p:nvPr/>
        </p:nvCxnSpPr>
        <p:spPr>
          <a:xfrm>
            <a:off x="1396080" y="414000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55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6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7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8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295280" y="3308760"/>
            <a:ext cx="960912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1295280" y="4777560"/>
            <a:ext cx="960912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40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41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42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D89A3E8-F6EA-4DFA-8F97-1D62A4B95CA7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65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6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7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446120" y="982080"/>
            <a:ext cx="9295560" cy="224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1295280" y="3639240"/>
            <a:ext cx="9609120" cy="88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1295280" y="4529520"/>
            <a:ext cx="9609120" cy="134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dt" idx="43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ftr" idx="44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 type="sldNum" idx="45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81692E1-661A-446B-9DD7-AAE5CC06B5C6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861840" y="87984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10600200" y="2599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7" name="Straight Connector 25"/>
          <p:cNvCxnSpPr/>
          <p:nvPr/>
        </p:nvCxnSpPr>
        <p:spPr>
          <a:xfrm>
            <a:off x="1396080" y="342900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79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0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1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2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9120" cy="224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1295280" y="3630240"/>
            <a:ext cx="9609120" cy="84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1295280" y="4470480"/>
            <a:ext cx="9609120" cy="140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dt" idx="46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ftr" idx="47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sldNum" idx="48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12BC8EF-723D-453A-8DBE-4DEC293A7420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89" name="Straight Connector 14"/>
          <p:cNvCxnSpPr/>
          <p:nvPr/>
        </p:nvCxnSpPr>
        <p:spPr>
          <a:xfrm>
            <a:off x="1396080" y="342900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6"/>
          <p:cNvGrpSpPr/>
          <p:nvPr/>
        </p:nvGrpSpPr>
        <p:grpSpPr>
          <a:xfrm>
            <a:off x="-15840" y="0"/>
            <a:ext cx="12229200" cy="6855480"/>
            <a:chOff x="-15840" y="0"/>
            <a:chExt cx="12229200" cy="6855480"/>
          </a:xfrm>
        </p:grpSpPr>
        <p:pic>
          <p:nvPicPr>
            <p:cNvPr id="191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160" cy="685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2" name="Rectangle 8"/>
            <p:cNvSpPr/>
            <p:nvPr/>
          </p:nvSpPr>
          <p:spPr>
            <a:xfrm>
              <a:off x="608040" y="609480"/>
              <a:ext cx="10972080" cy="56379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3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4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520" cy="60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title style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480" cy="331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def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Second level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Third level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Fifth level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49"/>
          </p:nvPr>
        </p:nvSpPr>
        <p:spPr>
          <a:xfrm>
            <a:off x="8677440" y="5969160"/>
            <a:ext cx="159948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ftr" idx="50"/>
          </p:nvPr>
        </p:nvSpPr>
        <p:spPr>
          <a:xfrm>
            <a:off x="1295280" y="5969160"/>
            <a:ext cx="730512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sldNum" idx="51"/>
          </p:nvPr>
        </p:nvSpPr>
        <p:spPr>
          <a:xfrm>
            <a:off x="10353960" y="5969160"/>
            <a:ext cx="541800" cy="2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29EB0E-B966-4855-BADD-1A860FD06192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00" name="Straight Connector 13"/>
          <p:cNvCxnSpPr/>
          <p:nvPr/>
        </p:nvCxnSpPr>
        <p:spPr>
          <a:xfrm>
            <a:off x="1396080" y="2421360"/>
            <a:ext cx="9407880" cy="720"/>
          </a:xfrm>
          <a:prstGeom prst="straightConnector1">
            <a:avLst/>
          </a:prstGeom>
          <a:ln w="0">
            <a:solidFill>
              <a:srgbClr val="83992A"/>
            </a:solidFill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daringfireball.net/projects/markdown/basics" TargetMode="External"/><Relationship Id="rId2" Type="http://schemas.openxmlformats.org/officeDocument/2006/relationships/hyperlink" Target="https://daringfireball.net/projects/markdown/basics" TargetMode="External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://github.com/" TargetMode="External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rmarkdown.rstudio.com/r_notebooks" TargetMode="External"/><Relationship Id="rId2" Type="http://schemas.openxmlformats.org/officeDocument/2006/relationships/hyperlink" Target="https://rmarkdown.rstudio.com/r_notebooks" TargetMode="External"/><Relationship Id="rId3" Type="http://schemas.openxmlformats.org/officeDocument/2006/relationships/hyperlink" Target="https://guides.github.com/activities/hello-world/" TargetMode="External"/><Relationship Id="rId4" Type="http://schemas.openxmlformats.org/officeDocument/2006/relationships/hyperlink" Target="https://guides.github.com/activities/hello-world/" TargetMode="External"/><Relationship Id="rId5" Type="http://schemas.openxmlformats.org/officeDocument/2006/relationships/hyperlink" Target="https://rmarkdown.rstudio.com/lesson-1.html" TargetMode="External"/><Relationship Id="rId6" Type="http://schemas.openxmlformats.org/officeDocument/2006/relationships/hyperlink" Target="https://rmarkdown.rstudio.com/lesson-1.html" TargetMode="External"/><Relationship Id="rId7" Type="http://schemas.openxmlformats.org/officeDocument/2006/relationships/hyperlink" Target="https://bookdown.org/yihui/rmarkdown/html-document.html" TargetMode="External"/><Relationship Id="rId8" Type="http://schemas.openxmlformats.org/officeDocument/2006/relationships/hyperlink" Target="https://bookdown.org/yihui/rmarkdown/html-document.html" TargetMode="External"/><Relationship Id="rId9" Type="http://schemas.openxmlformats.org/officeDocument/2006/relationships/hyperlink" Target="https://rmarkdown.rstudio.com/articles_intro.html" TargetMode="External"/><Relationship Id="rId10" Type="http://schemas.openxmlformats.org/officeDocument/2006/relationships/hyperlink" Target="https://rmarkdown.rstudio.com/articles_intro.html" TargetMode="External"/><Relationship Id="rId11" Type="http://schemas.openxmlformats.org/officeDocument/2006/relationships/hyperlink" Target="https://en.wikipedia.org/wiki/Markdown" TargetMode="External"/><Relationship Id="rId12" Type="http://schemas.openxmlformats.org/officeDocument/2006/relationships/hyperlink" Target="https://en.wikipedia.org/wiki/Markdown" TargetMode="External"/><Relationship Id="rId1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2692440" y="1689840"/>
            <a:ext cx="6814800" cy="151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Using R Notebook</a:t>
            </a:r>
            <a:endParaRPr lang="en-U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ubTitle"/>
          </p:nvPr>
        </p:nvSpPr>
        <p:spPr>
          <a:xfrm>
            <a:off x="2692440" y="3786840"/>
            <a:ext cx="681480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A Guide to Organizing and Presenting Data for an Aesthetic Delivery Using R Notebooks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Table of Contents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1295280" y="2557080"/>
            <a:ext cx="9600480" cy="331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85840" indent="-285840" algn="just" defTabSz="457200">
              <a:lnSpc>
                <a:spcPct val="15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 Notebook..........................................................................................................3-12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just" defTabSz="457200">
              <a:lnSpc>
                <a:spcPct val="15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Basics.....................................................................................................13-21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just" defTabSz="457200">
              <a:lnSpc>
                <a:spcPct val="15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Desktop...............................................................................................22-2X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just" defTabSz="457200">
              <a:lnSpc>
                <a:spcPct val="15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Credits.......................................................................................................................2X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5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2014920" y="1752480"/>
            <a:ext cx="8157960" cy="182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 Notebook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2014920" y="3845880"/>
            <a:ext cx="815796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Initialization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8" name="Content Placeholder 2"/>
          <p:cNvSpPr/>
          <p:nvPr/>
        </p:nvSpPr>
        <p:spPr>
          <a:xfrm>
            <a:off x="6178320" y="2560320"/>
            <a:ext cx="4717440" cy="14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Alternatively, you can save any file you have open in RStudio as an R Notebook file by saving the file with the file format ending “.rmd”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112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When starting a new R Notebook file, select the “R Notebook” file type specifically from the dropdown menu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10" name="Content Placeholder 4"/>
          <p:cNvPicPr/>
          <p:nvPr/>
        </p:nvPicPr>
        <p:blipFill>
          <a:blip r:embed="rId1"/>
          <a:srcRect l="0" t="0" r="73260" b="64829"/>
          <a:stretch/>
        </p:blipFill>
        <p:spPr>
          <a:xfrm>
            <a:off x="1922760" y="3529800"/>
            <a:ext cx="3469320" cy="2566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211" name="Content Placeholder 2"/>
          <p:cNvSpPr/>
          <p:nvPr/>
        </p:nvSpPr>
        <p:spPr>
          <a:xfrm>
            <a:off x="6333480" y="3855960"/>
            <a:ext cx="4717440" cy="214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0">
            <a:solidFill>
              <a:srgbClr val="A23C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marL="285840" indent="-285840" algn="ct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"/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Common Question: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What is with the “--- title output ---” at the beginning of the file?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Answer: This notation allows you to edit the metadata associated with your document. We will go into what you need to know about them on the next slide.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14"/>
          <p:cNvPicPr/>
          <p:nvPr/>
        </p:nvPicPr>
        <p:blipFill>
          <a:blip r:embed="rId2"/>
          <a:srcRect l="1539" t="15269" r="73443" b="78198"/>
          <a:stretch/>
        </p:blipFill>
        <p:spPr>
          <a:xfrm>
            <a:off x="6388920" y="4483080"/>
            <a:ext cx="4606920" cy="6598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Initialization (Continued)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14" name="Picture 6"/>
          <p:cNvPicPr/>
          <p:nvPr/>
        </p:nvPicPr>
        <p:blipFill>
          <a:blip r:embed="rId1"/>
          <a:srcRect l="0" t="13253" r="80035" b="80059"/>
          <a:stretch/>
        </p:blipFill>
        <p:spPr>
          <a:xfrm>
            <a:off x="1738080" y="3391920"/>
            <a:ext cx="4142880" cy="77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Picture 8"/>
          <p:cNvPicPr/>
          <p:nvPr/>
        </p:nvPicPr>
        <p:blipFill>
          <a:blip r:embed="rId2"/>
          <a:srcRect l="1927" t="56283" r="53927" b="37585"/>
          <a:stretch/>
        </p:blipFill>
        <p:spPr>
          <a:xfrm>
            <a:off x="1653120" y="5436720"/>
            <a:ext cx="8885160" cy="69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295280" y="4325400"/>
            <a:ext cx="4717440" cy="11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These are used to give a title to your document and to dictate your file output type, respectively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1295280" y="2554560"/>
            <a:ext cx="4717440" cy="9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At the top of your new document, you will encounter the following: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6178320" y="2554560"/>
            <a:ext cx="4717440" cy="288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If you’d like to change your working directory at any time in your document, then add the three lines of code at the bottom of this slide before you begin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Replace “YourFolder” with the folder that you would like to connect to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This is an example of a “Chunk”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More on why this step is necessary will be explained in a few slides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Chunks?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450800" y="4712760"/>
            <a:ext cx="4612680" cy="1353600"/>
          </a:xfrm>
          <a:prstGeom prst="rect">
            <a:avLst/>
          </a:prstGeom>
          <a:noFill/>
          <a:ln w="0">
            <a:noFill/>
          </a:ln>
        </p:spPr>
        <p:txBody>
          <a:bodyPr numCol="2" spcCol="0" lIns="91440" tIns="45720" rIns="91440" bIns="45720" anchor="t">
            <a:normAutofit fontScale="25000" lnSpcReduction="19999"/>
          </a:bodyPr>
          <a:p>
            <a:pPr marL="285840" indent="-285840" algn="l" defTabSz="457200">
              <a:lnSpc>
                <a:spcPct val="100000"/>
              </a:lnSpc>
              <a:spcBef>
                <a:spcPts val="144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7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 Notebook provides support for the following languages:</a:t>
            </a:r>
            <a:endParaRPr lang="en-US" sz="7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6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</a:t>
            </a:r>
            <a:endParaRPr lang="en-US" sz="6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6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Bash</a:t>
            </a:r>
            <a:endParaRPr lang="en-US" sz="6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6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Python</a:t>
            </a:r>
            <a:endParaRPr lang="en-US" sz="6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6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Rcpp</a:t>
            </a:r>
            <a:endParaRPr lang="en-US" sz="6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6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SQL</a:t>
            </a:r>
            <a:endParaRPr lang="en-US" sz="6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6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Stan</a:t>
            </a:r>
            <a:endParaRPr lang="en-US" sz="6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21" name="Content Placeholder 2"/>
          <p:cNvSpPr/>
          <p:nvPr/>
        </p:nvSpPr>
        <p:spPr>
          <a:xfrm>
            <a:off x="1450800" y="2560320"/>
            <a:ext cx="4506480" cy="21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The main benefit of using R Notebooks to present data is the use of what are known as “chunks”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Chunks refer to areas within the document where interpretation of input switches from simple text to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181200" y="2560320"/>
            <a:ext cx="4714560" cy="258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By default, the command “ctrl-alt-I” inserts a chunk into your document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Chunks can be given names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To name a chunk, replace the {r} at the beginning of the chunk with {r “name”}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Your chunk will now have the name “name”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 named chunk appears as follows: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23" name="Picture 4"/>
          <p:cNvPicPr/>
          <p:nvPr/>
        </p:nvPicPr>
        <p:blipFill>
          <a:blip r:embed="rId1"/>
          <a:srcRect l="3183" t="40616" r="80524" b="52311"/>
          <a:stretch/>
        </p:blipFill>
        <p:spPr>
          <a:xfrm>
            <a:off x="6320880" y="4953240"/>
            <a:ext cx="4575240" cy="111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Executing Chunks – Inline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Chunks can essentially be “toggled on and off”, meaning you can either have them execute and display output in real time or not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By default, chunks are displayed “inline”, meaning that the resulting output of executing the code is displayed within the body of your document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26" name="Content Placeholder 4"/>
          <p:cNvPicPr/>
          <p:nvPr/>
        </p:nvPicPr>
        <p:blipFill>
          <a:blip r:embed="rId1"/>
          <a:srcRect l="898" t="33494" r="70720" b="51451"/>
          <a:stretch/>
        </p:blipFill>
        <p:spPr>
          <a:xfrm>
            <a:off x="1063800" y="4638960"/>
            <a:ext cx="5186880" cy="15454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227" name="Content Placeholder 2"/>
          <p:cNvSpPr/>
          <p:nvPr/>
        </p:nvSpPr>
        <p:spPr>
          <a:xfrm>
            <a:off x="6383520" y="2560320"/>
            <a:ext cx="4959360" cy="3555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0">
            <a:solidFill>
              <a:srgbClr val="A23C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t">
            <a:normAutofit fontScale="77500" lnSpcReduction="19999"/>
          </a:bodyPr>
          <a:p>
            <a:pPr defTabSz="457200">
              <a:lnSpc>
                <a:spcPct val="100000"/>
              </a:lnSpc>
              <a:spcBef>
                <a:spcPts val="20"/>
              </a:spcBef>
              <a:spcAft>
                <a:spcPts val="601"/>
              </a:spcAft>
            </a:pPr>
            <a:endParaRPr lang="en-US" sz="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"/>
            </a:pP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Common Question: 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Is each chunk independent of one other, like how local variables within a function are not available within another function?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8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19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Answer: </a:t>
            </a:r>
            <a:r>
              <a:rPr lang="en-US" sz="19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For the most part, no: generally, anything you define above a line in R Notebook is considered to be global, and you can refer to it in a later chunk. The exception to this is altering the working directory.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15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By default, R doesn’t want an R Notebook chunk messing with things outside of the file itself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15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Thus, R doesn’t permit chunk assignments to change the working directory any further than the end of the chunk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15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This can be bypassed however by replacing{r} with {r setup} and then executing the “knitr::opts_knit…” code previously shown.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15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While normal R Notebook files are presumed to be self-contained, the special name “setup” allows outside interactions to be done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Executing Chunks – In Console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33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85840" indent="-285840" algn="l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 Notebook also includes the option to present chunk output in the console</a:t>
            </a: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To access this, click Tools -&gt; Global Options, then select ‘R Markdown’ 6</a:t>
            </a:r>
            <a:r>
              <a:rPr lang="en-US" sz="2800" b="0" u="none" strike="noStrike" baseline="300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</a:t>
            </a:r>
            <a:r>
              <a:rPr lang="en-US" sz="2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 down from the left and uncheck the indicated option displayed to the right</a:t>
            </a: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30" name="Content Placeholder 4"/>
          <p:cNvPicPr/>
          <p:nvPr/>
        </p:nvPicPr>
        <p:blipFill>
          <a:blip r:embed="rId1"/>
          <a:srcRect l="0" t="0" r="0" b="20728"/>
          <a:stretch/>
        </p:blipFill>
        <p:spPr>
          <a:xfrm>
            <a:off x="6875280" y="2560680"/>
            <a:ext cx="4200840" cy="330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Comparison of “Inline” and “In Console” Output</a:t>
            </a:r>
            <a:endParaRPr lang="en-US" sz="3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802080" y="2537280"/>
            <a:ext cx="4581000" cy="492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000000"/>
            </a:solidFill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672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1"/>
                </a:solidFill>
                <a:effectLst/>
                <a:uFillTx/>
                <a:latin typeface="Garamond"/>
              </a:rPr>
              <a:t>Inline</a:t>
            </a: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5517000" y="2537280"/>
            <a:ext cx="5869440" cy="492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000000"/>
            </a:solidFill>
          </a:ln>
        </p:spPr>
        <p:txBody>
          <a:bodyPr lIns="91440" tIns="45720" rIns="91440" bIns="45720" anchor="b">
            <a:noAutofit/>
          </a:bodyPr>
          <a:p>
            <a:pPr indent="0" algn="ctr" defTabSz="457200">
              <a:lnSpc>
                <a:spcPct val="100000"/>
              </a:lnSpc>
              <a:spcBef>
                <a:spcPts val="672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1"/>
                </a:solidFill>
                <a:effectLst/>
                <a:uFillTx/>
                <a:latin typeface="Garamond"/>
              </a:rPr>
              <a:t>In Console</a:t>
            </a: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34" name="Content Placeholder 6"/>
          <p:cNvPicPr/>
          <p:nvPr/>
        </p:nvPicPr>
        <p:blipFill>
          <a:blip r:embed="rId1"/>
          <a:srcRect l="898" t="30079" r="52295" b="14296"/>
          <a:stretch/>
        </p:blipFill>
        <p:spPr>
          <a:xfrm>
            <a:off x="802080" y="3030840"/>
            <a:ext cx="4581000" cy="3196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235" name="Content Placeholder 7"/>
          <p:cNvPicPr/>
          <p:nvPr/>
        </p:nvPicPr>
        <p:blipFill>
          <a:blip r:embed="rId2"/>
          <a:srcRect l="770" t="7521" r="1795" b="30705"/>
          <a:stretch/>
        </p:blipFill>
        <p:spPr>
          <a:xfrm>
            <a:off x="5517000" y="3030840"/>
            <a:ext cx="5869440" cy="3196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Previewing Output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871200" y="2560320"/>
            <a:ext cx="5144760" cy="354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An R Notebook document can be “previewed” as output, displaying data as a rendered R Markdown document without executing any of your chunks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However, all currently inline-displayed chunks that are showing will appear in the previewed document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The “preview” option is just to the left of the small gear icon displayed earlier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38" name="TextBox 18"/>
          <p:cNvSpPr/>
          <p:nvPr/>
        </p:nvSpPr>
        <p:spPr>
          <a:xfrm>
            <a:off x="6612480" y="5831280"/>
            <a:ext cx="4160880" cy="27612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example of output from an R Notebook document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3"/>
          <p:cNvPicPr/>
          <p:nvPr/>
        </p:nvPicPr>
        <p:blipFill>
          <a:blip r:embed="rId1"/>
          <a:stretch/>
        </p:blipFill>
        <p:spPr>
          <a:xfrm>
            <a:off x="6612480" y="2466000"/>
            <a:ext cx="4160880" cy="336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Saving and Additional Concerns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21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Whenever you save your document, alongside the .rmd file you are currently working on, a .nb.html file is created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This document is simply an html file displaying exactly what clicking “preview” would have done at the time of saving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1295280" y="4633920"/>
            <a:ext cx="3747240" cy="1267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 fontScale="85000" lnSpcReduction="9999"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This document can be shared with others and opened either within a web browser or within RStudio itself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43" name="Content Placeholder 2"/>
          <p:cNvSpPr/>
          <p:nvPr/>
        </p:nvSpPr>
        <p:spPr>
          <a:xfrm>
            <a:off x="6178320" y="1787040"/>
            <a:ext cx="4717440" cy="33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44" name="Content Placeholder 3"/>
          <p:cNvSpPr/>
          <p:nvPr/>
        </p:nvSpPr>
        <p:spPr>
          <a:xfrm>
            <a:off x="6016680" y="2558520"/>
            <a:ext cx="5188320" cy="20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t">
            <a:normAutofit fontScale="47500" lnSpcReduction="19999"/>
          </a:bodyPr>
          <a:p>
            <a:pPr marL="285840" indent="-285840" defTabSz="457200">
              <a:lnSpc>
                <a:spcPct val="100000"/>
              </a:lnSpc>
              <a:spcBef>
                <a:spcPts val="7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3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File formatting within an R Notebook document is done in the </a:t>
            </a:r>
            <a:r>
              <a:rPr lang="en-US" sz="3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markdown</a:t>
            </a:r>
            <a:r>
              <a:rPr lang="en-US" sz="3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 formatting language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68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3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Markdown is an easy-to-use text formatting language that allows for the creation of rich text using plain text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68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Wingdings" charset="2"/>
              <a:buChar char=""/>
            </a:pPr>
            <a:r>
              <a:rPr lang="en-US" sz="3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For more information on formatting using markdown, consult </a:t>
            </a:r>
            <a:r>
              <a:rPr lang="en-US" sz="34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1"/>
              </a:rPr>
              <a:t>https://</a:t>
            </a:r>
            <a:r>
              <a:rPr lang="en-US" sz="34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2"/>
              </a:rPr>
              <a:t>daringfireball.net/projects/markdown/basics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519"/>
              </a:spcBef>
              <a:spcAft>
                <a:spcPts val="601"/>
              </a:spcAf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7"/>
          <p:cNvPicPr/>
          <p:nvPr/>
        </p:nvPicPr>
        <p:blipFill>
          <a:blip r:embed="rId3"/>
          <a:stretch/>
        </p:blipFill>
        <p:spPr>
          <a:xfrm>
            <a:off x="5043240" y="4586040"/>
            <a:ext cx="6408360" cy="156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Common Errors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1295280" y="2557080"/>
            <a:ext cx="9600480" cy="331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Error: </a:t>
            </a:r>
            <a:r>
              <a:rPr lang="en-US" sz="2400" b="1" u="sng" strike="noStrike">
                <a:solidFill>
                  <a:schemeClr val="dk1"/>
                </a:solidFill>
                <a:effectLst/>
                <a:uFillTx/>
                <a:latin typeface="Garamond"/>
              </a:rPr>
              <a:t>'is_latex_output' is not an exported object from 'namespace:knitr' Execution halted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Solution: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 Run the following code in your R console: 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457200"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7030A0"/>
                </a:solidFill>
                <a:effectLst/>
                <a:uFillTx/>
                <a:latin typeface="Garamond"/>
              </a:rPr>
              <a:t>install.packages('knitr', repos = c('http://rforge.net', 'http://cran.rstudio.org'), type = 'source')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_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Solution: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 Give a unique name to all of your unnamed chunks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48" name="Picture 3"/>
          <p:cNvPicPr/>
          <p:nvPr/>
        </p:nvPicPr>
        <p:blipFill>
          <a:blip r:embed="rId1"/>
          <a:srcRect l="614" t="13330" r="80382" b="84787"/>
          <a:stretch/>
        </p:blipFill>
        <p:spPr>
          <a:xfrm>
            <a:off x="1577520" y="4283640"/>
            <a:ext cx="8385480" cy="46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2014920" y="1752480"/>
            <a:ext cx="8157960" cy="182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Basics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2014920" y="3845880"/>
            <a:ext cx="815796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Version Control:</a:t>
            </a:r>
            <a:br>
              <a:rPr sz="4400"/>
            </a:b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Organizational Saving and History Tracking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1173240" y="2560320"/>
            <a:ext cx="4842720" cy="36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Have you ever edited a document “doc” and then saved it as “doc_V2”? And then “doc_V3”?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This is called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version control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Drawbacks: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Saving new edits quickly becomes tedious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You might accidentally save over old versions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Introducing Github: a website that streamlines the procedure of version control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Formatting in Github uses the markdown formatting language – the same as R Notebook! 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6016680" y="2560320"/>
            <a:ext cx="5378040" cy="356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In addition to keeping track of your document’s history, using Github for version control also offers the following benefits: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Creates an off-site copy of your document in the cloud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Allows for multiple “branches” of update history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Opens up ability to take a project down different paths synchronously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Maintains a sensible “direction” of edits two-dimensionally in a way that is not easily replicable by simply addending endings manually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Allows other users to collaborate and submit updated versions of your files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Tutorial – Getting Started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33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To start, go to </a:t>
            </a:r>
            <a:r>
              <a:rPr lang="en-US" sz="24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1"/>
              </a:rPr>
              <a:t>http://github.com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 and create an account; Github will guide you through this process, but don’t worry, it’s straightforward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Now that you’ve got an account of your own, we can create a 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repository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56" name="Content Placeholder 10"/>
          <p:cNvPicPr/>
          <p:nvPr/>
        </p:nvPicPr>
        <p:blipFill>
          <a:blip r:embed="rId2"/>
          <a:srcRect l="0" t="0" r="30998" b="0"/>
          <a:stretch/>
        </p:blipFill>
        <p:spPr>
          <a:xfrm>
            <a:off x="6277320" y="3342240"/>
            <a:ext cx="4196160" cy="185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Content Placeholder 2"/>
          <p:cNvSpPr/>
          <p:nvPr/>
        </p:nvSpPr>
        <p:spPr>
          <a:xfrm>
            <a:off x="6016680" y="2560320"/>
            <a:ext cx="4717440" cy="9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Your homepage should look something like this: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Content Placeholder 2"/>
          <p:cNvSpPr/>
          <p:nvPr/>
        </p:nvSpPr>
        <p:spPr>
          <a:xfrm>
            <a:off x="6016680" y="5287680"/>
            <a:ext cx="4717440" cy="9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on the “Repositories” tab adjacent to the “Overview” tab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Tutorial – Creating Repositories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From here, click the green tab to the left that says “New”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61" name="Content Placeholder 5"/>
          <p:cNvPicPr/>
          <p:nvPr/>
        </p:nvPicPr>
        <p:blipFill>
          <a:blip r:embed="rId1"/>
          <a:stretch/>
        </p:blipFill>
        <p:spPr>
          <a:xfrm>
            <a:off x="1295280" y="3474720"/>
            <a:ext cx="4717440" cy="11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Content Placeholder 2"/>
          <p:cNvSpPr/>
          <p:nvPr/>
        </p:nvSpPr>
        <p:spPr>
          <a:xfrm>
            <a:off x="1295280" y="4663440"/>
            <a:ext cx="4717440" cy="14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Fill out or select the circled items to the right, and then click on the green “Create repository” button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Picture 8"/>
          <p:cNvPicPr/>
          <p:nvPr/>
        </p:nvPicPr>
        <p:blipFill>
          <a:blip r:embed="rId2"/>
          <a:stretch/>
        </p:blipFill>
        <p:spPr>
          <a:xfrm>
            <a:off x="6621840" y="2491200"/>
            <a:ext cx="4273920" cy="362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Tutorial – Uploading Our Document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273560" cy="99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85840" indent="-285840" algn="l" defTabSz="457200">
              <a:lnSpc>
                <a:spcPct val="100000"/>
              </a:lnSpc>
              <a:spcBef>
                <a:spcPts val="45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3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Now that your repository is created, we want to upload our R Notebook document to it</a:t>
            </a:r>
            <a:endParaRPr lang="en-US" sz="23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66" name="Content Placeholder 7"/>
          <p:cNvPicPr/>
          <p:nvPr/>
        </p:nvPicPr>
        <p:blipFill>
          <a:blip r:embed="rId1"/>
          <a:srcRect l="0" t="0" r="0" b="39386"/>
          <a:stretch/>
        </p:blipFill>
        <p:spPr>
          <a:xfrm>
            <a:off x="6178680" y="2475360"/>
            <a:ext cx="4717440" cy="134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Picture 8"/>
          <p:cNvPicPr/>
          <p:nvPr/>
        </p:nvPicPr>
        <p:blipFill>
          <a:blip r:embed="rId2"/>
          <a:stretch/>
        </p:blipFill>
        <p:spPr>
          <a:xfrm>
            <a:off x="1543680" y="3424320"/>
            <a:ext cx="4028040" cy="271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Content Placeholder 2"/>
          <p:cNvSpPr/>
          <p:nvPr/>
        </p:nvSpPr>
        <p:spPr>
          <a:xfrm>
            <a:off x="5870520" y="4009680"/>
            <a:ext cx="5333040" cy="23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1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On the next page, select “choose your files” in blue, then navigate your folders and double click your R Notebook file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1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Fill in or select the circled items to the left, and when you are done, click the green “Commit Changes” button indicated by the arrow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Content Placeholder 2"/>
          <p:cNvSpPr/>
          <p:nvPr/>
        </p:nvSpPr>
        <p:spPr>
          <a:xfrm flipH="1">
            <a:off x="5572080" y="2708640"/>
            <a:ext cx="45648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Wingdings"/>
              </a:rPr>
              <a:t>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Content Placeholder 2"/>
          <p:cNvSpPr/>
          <p:nvPr/>
        </p:nvSpPr>
        <p:spPr>
          <a:xfrm flipH="1" flipV="1">
            <a:off x="5572080" y="5021640"/>
            <a:ext cx="45648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Wingdings"/>
              </a:rPr>
              <a:t>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Tutorial – Branching Out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845280" y="2473920"/>
            <a:ext cx="6167160" cy="370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Our initial upload will now be referred to as our 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master branch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; think of it to be as much of a “branch” as a tree trunk is to a tree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We will now create our first proper branch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First, click on the button that says “Branch: master” circled in blue in the picture to the right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Next, create a name for your branch in the dialogue box that opens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Now, click the button circled in black to the right to create the branch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We are now seemingly back to our previous screen, but note that this time all files we interact with are within the “Our-First-Branch” branch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We can toggle between branches and the master by selecting the button circle in blue as before and selecting “master” under the “Branches” tab that pops up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73" name="Content Placeholder 4"/>
          <p:cNvPicPr/>
          <p:nvPr/>
        </p:nvPicPr>
        <p:blipFill>
          <a:blip r:embed="rId1"/>
          <a:srcRect l="0" t="7498" r="-66" b="-132"/>
          <a:stretch/>
        </p:blipFill>
        <p:spPr>
          <a:xfrm>
            <a:off x="7338960" y="2495520"/>
            <a:ext cx="3528360" cy="36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Picture 5"/>
          <p:cNvPicPr/>
          <p:nvPr/>
        </p:nvPicPr>
        <p:blipFill>
          <a:blip r:embed="rId2"/>
          <a:stretch/>
        </p:blipFill>
        <p:spPr>
          <a:xfrm>
            <a:off x="3675600" y="5649480"/>
            <a:ext cx="3337200" cy="52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Tutorial – Editing Our Branch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76" name="Content Placeholder 7"/>
          <p:cNvPicPr/>
          <p:nvPr/>
        </p:nvPicPr>
        <p:blipFill>
          <a:blip r:embed="rId1"/>
          <a:srcRect l="2336" t="0" r="1971" b="0"/>
          <a:stretch/>
        </p:blipFill>
        <p:spPr>
          <a:xfrm>
            <a:off x="8183160" y="3187800"/>
            <a:ext cx="318240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Content Placeholder 2"/>
          <p:cNvSpPr/>
          <p:nvPr/>
        </p:nvSpPr>
        <p:spPr>
          <a:xfrm>
            <a:off x="1165320" y="2493000"/>
            <a:ext cx="5184360" cy="21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We now wish to make a few changes to our branch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on this branch’s version of your uploaded file to open up a browser view of your document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Picture 9"/>
          <p:cNvPicPr/>
          <p:nvPr/>
        </p:nvPicPr>
        <p:blipFill>
          <a:blip r:embed="rId2"/>
          <a:srcRect l="0" t="0" r="0" b="20793"/>
          <a:stretch/>
        </p:blipFill>
        <p:spPr>
          <a:xfrm>
            <a:off x="1295280" y="4423680"/>
            <a:ext cx="2072160" cy="180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Content Placeholder 2"/>
          <p:cNvSpPr/>
          <p:nvPr/>
        </p:nvSpPr>
        <p:spPr>
          <a:xfrm>
            <a:off x="6350400" y="4568760"/>
            <a:ext cx="4992480" cy="12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Make your editing changes, fill out the dialogue boxes circled to the left, and click the green “Commit changes” button at the bottom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Content Placeholder 3"/>
          <p:cNvSpPr/>
          <p:nvPr/>
        </p:nvSpPr>
        <p:spPr>
          <a:xfrm>
            <a:off x="6350400" y="2560320"/>
            <a:ext cx="4992480" cy="14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on the pencil option on the right side of your screen (circled below) to begin editing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1" name="Picture 16"/>
          <p:cNvPicPr/>
          <p:nvPr/>
        </p:nvPicPr>
        <p:blipFill>
          <a:blip r:embed="rId3"/>
          <a:srcRect l="0" t="3524" r="42077" b="0"/>
          <a:stretch/>
        </p:blipFill>
        <p:spPr>
          <a:xfrm>
            <a:off x="3669480" y="4109040"/>
            <a:ext cx="2643120" cy="21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Content Placeholder 2"/>
          <p:cNvSpPr/>
          <p:nvPr/>
        </p:nvSpPr>
        <p:spPr>
          <a:xfrm flipH="1" flipV="1">
            <a:off x="6275520" y="5166360"/>
            <a:ext cx="45648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Wingdings"/>
              </a:rPr>
              <a:t>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Content Placeholder 2"/>
          <p:cNvSpPr/>
          <p:nvPr/>
        </p:nvSpPr>
        <p:spPr>
          <a:xfrm flipH="1" flipV="1" rot="18323400">
            <a:off x="3162600" y="3994200"/>
            <a:ext cx="4564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Wingdings"/>
              </a:rPr>
              <a:t>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Content Placeholder 2"/>
          <p:cNvSpPr/>
          <p:nvPr/>
        </p:nvSpPr>
        <p:spPr>
          <a:xfrm flipH="1" flipV="1" rot="12460800">
            <a:off x="7634160" y="3599280"/>
            <a:ext cx="4564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Wingdings"/>
              </a:rPr>
              <a:t>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Tutorial – Pull Requests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277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Return to your repository’s page; you are greeted by a new tan box with our new branches name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The branch edit you’ve just made is said to have been “pushed”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We now wish to compare our branch edits to the master branch and then submit a 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pull request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; to do this, click the green button below saying to do just that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87" name="Content Placeholder 6"/>
          <p:cNvPicPr/>
          <p:nvPr/>
        </p:nvPicPr>
        <p:blipFill>
          <a:blip r:embed="rId1"/>
          <a:stretch/>
        </p:blipFill>
        <p:spPr>
          <a:xfrm>
            <a:off x="1298880" y="5200560"/>
            <a:ext cx="4717440" cy="82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Content Placeholder 3"/>
          <p:cNvSpPr/>
          <p:nvPr/>
        </p:nvSpPr>
        <p:spPr>
          <a:xfrm>
            <a:off x="6350400" y="2560320"/>
            <a:ext cx="4992480" cy="36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marL="285840" indent="-285840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On the screen that now appears, you will see the edit title and description that you created for the branch earlier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We will now create a pull request from our branch edits onto our master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 pull request from branch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Z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 to higher branch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 allows for the author of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 to accept the edits to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 by the author of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The author of </a:t>
            </a:r>
            <a:r>
              <a:rPr lang="en-US" sz="18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may either accept or decline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If you are the author of both branches, this is essentially asking you “Are you sure about this?”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Picture 6"/>
          <p:cNvPicPr/>
          <p:nvPr/>
        </p:nvPicPr>
        <p:blipFill>
          <a:blip r:embed="rId1"/>
          <a:srcRect l="874" t="60297" r="36132" b="1659"/>
          <a:stretch/>
        </p:blipFill>
        <p:spPr>
          <a:xfrm>
            <a:off x="7605360" y="4483080"/>
            <a:ext cx="3818880" cy="171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Tutorial – Merging Master and Branch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91" name="Content Placeholder 4"/>
          <p:cNvPicPr/>
          <p:nvPr/>
        </p:nvPicPr>
        <p:blipFill>
          <a:blip r:embed="rId2"/>
          <a:srcRect l="6879" t="12201" r="127" b="5072"/>
          <a:stretch/>
        </p:blipFill>
        <p:spPr>
          <a:xfrm>
            <a:off x="7731000" y="2417040"/>
            <a:ext cx="3567240" cy="20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Content Placeholder 2"/>
          <p:cNvSpPr/>
          <p:nvPr/>
        </p:nvSpPr>
        <p:spPr>
          <a:xfrm>
            <a:off x="1095480" y="2514960"/>
            <a:ext cx="6365520" cy="368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39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95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Click the green “Create pull request” button to the bottom right of your description box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9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95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You are now taken to a screen describing various things about the pull requested branch’s edit to your master branch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9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95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If you accept the edits that you have made, select the green “Merge pull request” button and then the green “Confirm merge” button that pops up right after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9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195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One final note: any of the languages R Notebook supports can be uploaded to Github in the exact same way as described in this presentation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91"/>
              </a:spcBef>
              <a:spcAft>
                <a:spcPts val="601"/>
              </a:spcAft>
            </a:pP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91"/>
              </a:spcBef>
              <a:spcAft>
                <a:spcPts val="601"/>
              </a:spcAft>
            </a:pP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Content Placeholder 2"/>
          <p:cNvSpPr/>
          <p:nvPr/>
        </p:nvSpPr>
        <p:spPr>
          <a:xfrm flipH="1" flipV="1" rot="13685400">
            <a:off x="7124760" y="3986640"/>
            <a:ext cx="456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Wingdings"/>
              </a:rPr>
              <a:t>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Content Placeholder 2"/>
          <p:cNvSpPr/>
          <p:nvPr/>
        </p:nvSpPr>
        <p:spPr>
          <a:xfrm flipH="1" flipV="1" rot="10800000">
            <a:off x="7273800" y="2592360"/>
            <a:ext cx="45648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Wingdings"/>
              </a:rPr>
              <a:t>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2014920" y="1752480"/>
            <a:ext cx="8157960" cy="182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Desktop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2014920" y="3845880"/>
            <a:ext cx="815796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Desktop – Installation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33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spcAft>
                <a:spcPts val="601"/>
              </a:spcAft>
              <a:buNone/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6181200" y="2560320"/>
            <a:ext cx="4717440" cy="33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479"/>
              </a:spcBef>
              <a:spcAft>
                <a:spcPts val="601"/>
              </a:spcAft>
              <a:buNone/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GitHub Desktop – Retrieving our Repositories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1298520" y="2560320"/>
            <a:ext cx="4717440" cy="128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Repositories in GitHub Desktop are essentially local copies of your online repositories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302" name="Content Placeholder 4"/>
          <p:cNvPicPr/>
          <p:nvPr/>
        </p:nvPicPr>
        <p:blipFill>
          <a:blip r:embed="rId1"/>
          <a:stretch/>
        </p:blipFill>
        <p:spPr>
          <a:xfrm>
            <a:off x="1295280" y="3848400"/>
            <a:ext cx="5026680" cy="21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Content Placeholder 2"/>
          <p:cNvSpPr/>
          <p:nvPr/>
        </p:nvSpPr>
        <p:spPr>
          <a:xfrm>
            <a:off x="6323040" y="2560320"/>
            <a:ext cx="4717440" cy="33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Important Operations -- “Pushing” and “Pulling”: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To retrieve your online repositories locally, select “Pull” under the “Repository” heading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After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480" cy="130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Credits</a:t>
            </a:r>
            <a:endParaRPr lang="en-US" sz="4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1295280" y="2557080"/>
            <a:ext cx="9600480" cy="331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This informational presentation was compiled using the helpful guides available on the rmarkdown website as a general guide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1"/>
              </a:rPr>
              <a:t>https://</a:t>
            </a: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2"/>
              </a:rPr>
              <a:t>rmarkdown.rstudio.com/r_notebooks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3"/>
              </a:rPr>
              <a:t>https://guides.github.com/activities/hello-world</a:t>
            </a: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4"/>
              </a:rPr>
              <a:t>/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 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algn="l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Ancillary information about R Markdown concepts gathered from the following specific webpages: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5"/>
              </a:rPr>
              <a:t>https://</a:t>
            </a: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6"/>
              </a:rPr>
              <a:t>rmarkdown.rstudio.com/lesson-1.html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7"/>
              </a:rPr>
              <a:t>https://</a:t>
            </a: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8"/>
              </a:rPr>
              <a:t>bookdown.org/yihui/rmarkdown/html-document.html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9"/>
              </a:rPr>
              <a:t>https://</a:t>
            </a: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10"/>
              </a:rPr>
              <a:t>rmarkdown.rstudio.com/articles_intro.html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11"/>
              </a:rPr>
              <a:t>https://</a:t>
            </a:r>
            <a:r>
              <a:rPr lang="en-US" sz="2000" b="0" u="sng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  <a:hlinkClick r:id="rId12"/>
              </a:rPr>
              <a:t>en.wikipedia.org/wiki/Markdown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457200"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
</Relationships>
</file>

<file path=ppt/theme/theme1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 pitchFamily="0" charset="1"/>
        <a:ea typeface=""/>
        <a:cs typeface=""/>
      </a:majorFont>
      <a:minorFont>
        <a:latin typeface="Garamond" panose="020204040303010108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Application>LibreOffice/26.2.5.2$Windows_X86_64 LibreOffice_project/cd7284b4cbbfeb507e630c1aac019f4157393acb</Application>
  <AppVersion>15.0000</AppVersion>
  <Words>1831</Words>
  <Paragraphs>152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2026-09-14T21:39:06Z</dcterms:created>
  <dc:creator/>
  <dc:description/>
  <dc:language>en-US</dc:language>
  <cp:lastModifiedBy/>
  <cp:revision>1</cp:revision>
  <dc:subject/>
  <dc:title>Using R Notebook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25</vt:i4>
  </property>
</Properties>
</file>