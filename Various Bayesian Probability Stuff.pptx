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D1D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 hidden="1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Rectangle 8" hidden="1"/>
          <p:cNvSpPr/>
          <p:nvPr/>
        </p:nvSpPr>
        <p:spPr>
          <a:xfrm>
            <a:off x="0" y="6334200"/>
            <a:ext cx="12191400" cy="658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1600" rIns="90000" bIns="21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" name="Straight Connector 9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5" name="Rectangle 4"/>
          <p:cNvSpPr/>
          <p:nvPr/>
        </p:nvSpPr>
        <p:spPr>
          <a:xfrm>
            <a:off x="3240" y="6400800"/>
            <a:ext cx="12188160" cy="4564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334200"/>
            <a:ext cx="12188160" cy="633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dt" idx="1"/>
          </p:nvPr>
        </p:nvSpPr>
        <p:spPr>
          <a:xfrm>
            <a:off x="1097280" y="6459840"/>
            <a:ext cx="2471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2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3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F70D6BB-7CD7-4804-B953-76C1C94D6540}" type="slidenum"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D1D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 hidden="1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Rectangle 8" hidden="1"/>
          <p:cNvSpPr/>
          <p:nvPr/>
        </p:nvSpPr>
        <p:spPr>
          <a:xfrm>
            <a:off x="0" y="6334200"/>
            <a:ext cx="12191400" cy="658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1600" rIns="90000" bIns="21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" name="Straight Connector 9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13" name="Rectangle 7"/>
          <p:cNvSpPr/>
          <p:nvPr/>
        </p:nvSpPr>
        <p:spPr>
          <a:xfrm>
            <a:off x="0" y="0"/>
            <a:ext cx="4050000" cy="68572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Rectangle 8"/>
          <p:cNvSpPr/>
          <p:nvPr/>
        </p:nvSpPr>
        <p:spPr>
          <a:xfrm>
            <a:off x="4039920" y="0"/>
            <a:ext cx="63360" cy="6857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1680" tIns="45000" rIns="3168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3199680" cy="228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85000"/>
              </a:lnSpc>
              <a:buNone/>
              <a:tabLst>
                <a:tab pos="0" algn="l"/>
              </a:tabLst>
              <a:defRPr lang="en-US" sz="3600" b="0" u="none" spc="-51" strike="noStrike">
                <a:solidFill>
                  <a:srgbClr val="FFFFFF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tabLst>
                <a:tab pos="0" algn="l"/>
              </a:tabLst>
            </a:pPr>
            <a:r>
              <a:rPr lang="en-US" sz="3600" b="0" u="none" spc="-51" strike="noStrike">
                <a:solidFill>
                  <a:srgbClr val="FFFFFF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600" b="0" u="none" spc="-51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800600" y="731520"/>
            <a:ext cx="6491520" cy="52570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6F6F74"/>
              </a:buClr>
              <a:buFont typeface="Calibri"/>
              <a:buChar char=" 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5pPr>
          </a:lstStyle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6F6F74"/>
              </a:buClr>
              <a:buFont typeface="Calibri"/>
              <a:buChar char=" 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  <a:p>
            <a:pPr marL="384120" lvl="1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567000" lvl="2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749880" lvl="3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32760" lvl="4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57200" y="2926080"/>
            <a:ext cx="3199680" cy="337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4"/>
          </p:nvPr>
        </p:nvSpPr>
        <p:spPr>
          <a:xfrm>
            <a:off x="465480" y="6459840"/>
            <a:ext cx="2617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5"/>
          </p:nvPr>
        </p:nvSpPr>
        <p:spPr>
          <a:xfrm>
            <a:off x="4800600" y="6459840"/>
            <a:ext cx="46476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6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62338AB-7CB5-467D-8BBC-9EFDF9D892E2}" type="slidenum">
              <a:rPr lang="en-US" sz="105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&lt;number&gt;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D1D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6" hidden="1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Rectangle 8" hidden="1"/>
          <p:cNvSpPr/>
          <p:nvPr/>
        </p:nvSpPr>
        <p:spPr>
          <a:xfrm>
            <a:off x="0" y="6334200"/>
            <a:ext cx="12191400" cy="658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1600" rIns="90000" bIns="21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" name="Straight Connector 9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24" name="Rectangle 7"/>
          <p:cNvSpPr/>
          <p:nvPr/>
        </p:nvSpPr>
        <p:spPr>
          <a:xfrm>
            <a:off x="0" y="4952880"/>
            <a:ext cx="12188160" cy="19044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Rectangle 8"/>
          <p:cNvSpPr/>
          <p:nvPr/>
        </p:nvSpPr>
        <p:spPr>
          <a:xfrm>
            <a:off x="0" y="4915080"/>
            <a:ext cx="12188160" cy="633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276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b">
            <a:noAutofit/>
          </a:bodyPr>
          <a:lstStyle>
            <a:lvl1pPr indent="0" algn="l" defTabSz="914400">
              <a:lnSpc>
                <a:spcPct val="85000"/>
              </a:lnSpc>
              <a:buNone/>
              <a:tabLst>
                <a:tab pos="0" algn="l"/>
              </a:tabLst>
              <a:defRPr lang="en-US" sz="3600" b="0" u="none" spc="-51" strike="noStrike">
                <a:solidFill>
                  <a:srgbClr val="FFFFFF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tabLst>
                <a:tab pos="0" algn="l"/>
              </a:tabLst>
            </a:pPr>
            <a:r>
              <a:rPr lang="en-US" sz="3600" b="0" u="none" spc="-51" strike="noStrike">
                <a:solidFill>
                  <a:srgbClr val="FFFFFF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600" b="0" u="none" spc="-51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12191400" cy="4914360"/>
          </a:xfrm>
          <a:prstGeom prst="rect">
            <a:avLst/>
          </a:prstGeom>
          <a:solidFill>
            <a:schemeClr val="lt2">
              <a:lumMod val="90000"/>
            </a:schemeClr>
          </a:solidFill>
          <a:ln w="0">
            <a:noFill/>
          </a:ln>
        </p:spPr>
        <p:txBody>
          <a:bodyPr lIns="457200" tIns="4572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icon to add picture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1097280" y="5906880"/>
            <a:ext cx="10112400" cy="59364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t">
            <a:normAutofit/>
          </a:bodyPr>
          <a:lstStyle>
            <a:lvl1pPr indent="0" algn="l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7"/>
          </p:nvPr>
        </p:nvSpPr>
        <p:spPr>
          <a:xfrm>
            <a:off x="1097280" y="6459840"/>
            <a:ext cx="2471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8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9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DA75174-C1C3-4928-B4FB-F173BC35F8D7}" type="slidenum"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D1D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6" hidden="1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Rectangle 8" hidden="1"/>
          <p:cNvSpPr/>
          <p:nvPr/>
        </p:nvSpPr>
        <p:spPr>
          <a:xfrm>
            <a:off x="0" y="6334200"/>
            <a:ext cx="12191400" cy="658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1600" rIns="90000" bIns="21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" name="Straight Connector 9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35" name="Rectangle 6"/>
          <p:cNvSpPr/>
          <p:nvPr/>
        </p:nvSpPr>
        <p:spPr>
          <a:xfrm>
            <a:off x="3240" y="6400800"/>
            <a:ext cx="12188160" cy="4564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Rectangle 7"/>
          <p:cNvSpPr/>
          <p:nvPr/>
        </p:nvSpPr>
        <p:spPr>
          <a:xfrm>
            <a:off x="0" y="6334200"/>
            <a:ext cx="12188160" cy="633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7680" cy="3565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85000"/>
              </a:lnSpc>
              <a:buNone/>
              <a:tabLst>
                <a:tab pos="0" algn="l"/>
              </a:tabLst>
              <a:defRPr lang="en-US" sz="8000" b="0" u="none" spc="-5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tabLst>
                <a:tab pos="0" algn="l"/>
              </a:tabLst>
            </a:pPr>
            <a:r>
              <a:rPr lang="en-US" sz="8000" b="0" u="none" spc="-5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8000" b="0" u="none" spc="-5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10"/>
          </p:nvPr>
        </p:nvSpPr>
        <p:spPr>
          <a:xfrm>
            <a:off x="1097280" y="6459840"/>
            <a:ext cx="2471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11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12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79F6165-E78D-43B1-9526-F5320D882B39}" type="slidenum"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41" name="Straight Connector 8"/>
          <p:cNvCxnSpPr/>
          <p:nvPr/>
        </p:nvCxnSpPr>
        <p:spPr>
          <a:xfrm>
            <a:off x="1207440" y="4343400"/>
            <a:ext cx="9876240" cy="72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6F6F74"/>
              </a:buClr>
              <a:buFont typeface="Calibri"/>
              <a:buChar char=" 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7pPr>
          </a:lstStyle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6F6F74"/>
              </a:buClr>
              <a:buFont typeface="Calibri"/>
              <a:buChar char=" 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Outline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Outline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Outline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D1D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6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Rectangle 8"/>
          <p:cNvSpPr/>
          <p:nvPr/>
        </p:nvSpPr>
        <p:spPr>
          <a:xfrm>
            <a:off x="0" y="6334200"/>
            <a:ext cx="12191400" cy="658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1600" rIns="90000" bIns="21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5" name="Straight Connector 9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85000"/>
              </a:lnSpc>
              <a:buNone/>
              <a:tabLst>
                <a:tab pos="0" algn="l"/>
              </a:tabLst>
              <a:defRPr lang="en-US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tabLst>
                <a:tab pos="0" algn="l"/>
              </a:tabLst>
            </a:pPr>
            <a:r>
              <a:rPr lang="en-US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800" b="0" u="none" spc="-51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7680" cy="4022640"/>
          </a:xfrm>
          <a:prstGeom prst="rect">
            <a:avLst/>
          </a:prstGeom>
          <a:noFill/>
          <a:ln w="0">
            <a:noFill/>
          </a:ln>
        </p:spPr>
        <p:txBody>
          <a:bodyPr lIns="45720" tIns="0" rIns="45720" bIns="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6F6F74"/>
              </a:buClr>
              <a:buFont typeface="Calibri"/>
              <a:buChar char=" 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5pPr>
          </a:lstStyle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6F6F74"/>
              </a:buClr>
              <a:buFont typeface="Calibri"/>
              <a:buChar char=" 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384120" lvl="1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567000" lvl="2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749880" lvl="3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32760" lvl="4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13"/>
          </p:nvPr>
        </p:nvSpPr>
        <p:spPr>
          <a:xfrm>
            <a:off x="1097280" y="6459840"/>
            <a:ext cx="2471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14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15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B76D7FA-9CA9-481B-8A00-EA77F5791917}" type="slidenum"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D1D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6" hidden="1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Rectangle 8" hidden="1"/>
          <p:cNvSpPr/>
          <p:nvPr/>
        </p:nvSpPr>
        <p:spPr>
          <a:xfrm>
            <a:off x="0" y="6334200"/>
            <a:ext cx="12191400" cy="658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1600" rIns="90000" bIns="21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3" name="Straight Connector 9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54" name="Rectangle 6"/>
          <p:cNvSpPr/>
          <p:nvPr/>
        </p:nvSpPr>
        <p:spPr>
          <a:xfrm>
            <a:off x="3240" y="6400800"/>
            <a:ext cx="12188160" cy="4564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Rectangle 7"/>
          <p:cNvSpPr/>
          <p:nvPr/>
        </p:nvSpPr>
        <p:spPr>
          <a:xfrm>
            <a:off x="0" y="6334200"/>
            <a:ext cx="12188160" cy="633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724960" y="412200"/>
            <a:ext cx="2628360" cy="575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 vert="eaVert">
            <a:noAutofit/>
          </a:bodyPr>
          <a:lstStyle>
            <a:lvl1pPr indent="0" algn="l" defTabSz="914400">
              <a:lnSpc>
                <a:spcPct val="85000"/>
              </a:lnSpc>
              <a:buNone/>
              <a:tabLst>
                <a:tab pos="0" algn="l"/>
              </a:tabLst>
              <a:defRPr lang="en-US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tabLst>
                <a:tab pos="0" algn="l"/>
              </a:tabLst>
            </a:pPr>
            <a:r>
              <a:rPr lang="en-US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800" b="0" u="none" spc="-51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838080" y="412200"/>
            <a:ext cx="7733520" cy="5759280"/>
          </a:xfrm>
          <a:prstGeom prst="rect">
            <a:avLst/>
          </a:prstGeom>
          <a:noFill/>
          <a:ln w="0">
            <a:noFill/>
          </a:ln>
        </p:spPr>
        <p:txBody>
          <a:bodyPr lIns="45720" tIns="0" rIns="45720" bIns="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6F6F74"/>
              </a:buClr>
              <a:buFont typeface="Calibri"/>
              <a:buChar char=" 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5pPr>
          </a:lstStyle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6F6F74"/>
              </a:buClr>
              <a:buFont typeface="Calibri"/>
              <a:buChar char=" 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384120" lvl="1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567000" lvl="2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749880" lvl="3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32760" lvl="4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16"/>
          </p:nvPr>
        </p:nvSpPr>
        <p:spPr>
          <a:xfrm>
            <a:off x="1097280" y="6459840"/>
            <a:ext cx="2471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17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18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17B33E0-341C-4E40-905F-67E6EB2BBDF1}" type="slidenum"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D1D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Rectangle 8"/>
          <p:cNvSpPr/>
          <p:nvPr/>
        </p:nvSpPr>
        <p:spPr>
          <a:xfrm>
            <a:off x="0" y="6334200"/>
            <a:ext cx="12191400" cy="658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1600" rIns="90000" bIns="21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3" name="Straight Connector 9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85000"/>
              </a:lnSpc>
              <a:buNone/>
              <a:tabLst>
                <a:tab pos="0" algn="l"/>
              </a:tabLst>
              <a:defRPr lang="en-US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tabLst>
                <a:tab pos="0" algn="l"/>
              </a:tabLst>
            </a:pPr>
            <a:r>
              <a:rPr lang="en-US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800" b="0" u="none" spc="-51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7680" cy="4022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6F6F74"/>
              </a:buClr>
              <a:buFont typeface="Calibri"/>
              <a:buChar char=" 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5pPr>
          </a:lstStyle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6F6F74"/>
              </a:buClr>
              <a:buFont typeface="Calibri"/>
              <a:buChar char=" 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384120" lvl="1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567000" lvl="2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749880" lvl="3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32760" lvl="4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dt" idx="19"/>
          </p:nvPr>
        </p:nvSpPr>
        <p:spPr>
          <a:xfrm>
            <a:off x="1097280" y="6459840"/>
            <a:ext cx="2471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ftr" idx="20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sldNum" idx="21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8184001-6C6A-4E82-9232-D685BEEC7971}" type="slidenum"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D1D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" hidden="1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8" hidden="1"/>
          <p:cNvSpPr/>
          <p:nvPr/>
        </p:nvSpPr>
        <p:spPr>
          <a:xfrm>
            <a:off x="0" y="6334200"/>
            <a:ext cx="12191400" cy="658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1600" rIns="90000" bIns="21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1" name="Straight Connector 9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72" name="Rectangle 6"/>
          <p:cNvSpPr/>
          <p:nvPr/>
        </p:nvSpPr>
        <p:spPr>
          <a:xfrm>
            <a:off x="3240" y="6400800"/>
            <a:ext cx="12188160" cy="4564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7"/>
          <p:cNvSpPr/>
          <p:nvPr/>
        </p:nvSpPr>
        <p:spPr>
          <a:xfrm>
            <a:off x="0" y="6334200"/>
            <a:ext cx="12188160" cy="633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7680" cy="3565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85000"/>
              </a:lnSpc>
              <a:buNone/>
              <a:tabLst>
                <a:tab pos="0" algn="l"/>
              </a:tabLst>
              <a:defRPr lang="en-US" sz="8000" b="0" u="none" spc="-5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tabLst>
                <a:tab pos="0" algn="l"/>
              </a:tabLst>
            </a:pPr>
            <a:r>
              <a:rPr lang="en-US" sz="8000" b="0" u="none" spc="-5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8000" b="0" u="none" spc="-5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1097280" y="4453200"/>
            <a:ext cx="100576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  <a:defRPr lang="en-US" sz="2400" b="0" u="none" spc="201" strike="noStrike" cap="all">
                <a:solidFill>
                  <a:schemeClr val="dk2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2400" b="0" u="none" spc="201" strike="noStrike" cap="all">
                <a:solidFill>
                  <a:schemeClr val="dk2"/>
                </a:solidFill>
                <a:effectLst/>
                <a:uFillTx/>
                <a:latin typeface="Calibri Light"/>
              </a:rPr>
              <a:t>Click to edit Master text styles</a:t>
            </a:r>
            <a:endParaRPr lang="en-US" sz="2400" b="0" u="none" spc="201" strike="noStrike" cap="all">
              <a:solidFill>
                <a:schemeClr val="dk2"/>
              </a:solidFill>
              <a:effectLst/>
              <a:uFillTx/>
              <a:latin typeface="Calibri Light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dt" idx="22"/>
          </p:nvPr>
        </p:nvSpPr>
        <p:spPr>
          <a:xfrm>
            <a:off x="1097280" y="6459840"/>
            <a:ext cx="2471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ftr" idx="23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sldNum" idx="24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DADABD5-F157-4565-A575-33A060BA1B61}" type="slidenum"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79" name="Straight Connector 8"/>
          <p:cNvCxnSpPr/>
          <p:nvPr/>
        </p:nvCxnSpPr>
        <p:spPr>
          <a:xfrm>
            <a:off x="1207440" y="4343400"/>
            <a:ext cx="9876240" cy="72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D1D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6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8"/>
          <p:cNvSpPr/>
          <p:nvPr/>
        </p:nvSpPr>
        <p:spPr>
          <a:xfrm>
            <a:off x="0" y="6334200"/>
            <a:ext cx="12191400" cy="658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1600" rIns="90000" bIns="21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2" name="Straight Connector 9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85000"/>
              </a:lnSpc>
              <a:buNone/>
              <a:tabLst>
                <a:tab pos="0" algn="l"/>
              </a:tabLst>
              <a:defRPr lang="en-US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tabLst>
                <a:tab pos="0" algn="l"/>
              </a:tabLst>
            </a:pPr>
            <a:r>
              <a:rPr lang="en-US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800" b="0" u="none" spc="-51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37040" cy="4022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6F6F74"/>
              </a:buClr>
              <a:buFont typeface="Calibri"/>
              <a:buChar char=" 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5pPr>
          </a:lstStyle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6F6F74"/>
              </a:buClr>
              <a:buFont typeface="Calibri"/>
              <a:buChar char=" 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384120" lvl="1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567000" lvl="2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749880" lvl="3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32760" lvl="4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6217920" y="1845720"/>
            <a:ext cx="4937040" cy="4022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6F6F74"/>
              </a:buClr>
              <a:buFont typeface="Calibri"/>
              <a:buChar char=" 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5pPr>
          </a:lstStyle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6F6F74"/>
              </a:buClr>
              <a:buFont typeface="Calibri"/>
              <a:buChar char=" 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384120" lvl="1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567000" lvl="2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749880" lvl="3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32760" lvl="4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dt" idx="25"/>
          </p:nvPr>
        </p:nvSpPr>
        <p:spPr>
          <a:xfrm>
            <a:off x="1097280" y="6459840"/>
            <a:ext cx="2471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ftr" idx="26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 type="sldNum" idx="27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6B858E3-D963-4581-8FD2-E50ECAC9515A}" type="slidenum"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D1D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6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8"/>
          <p:cNvSpPr/>
          <p:nvPr/>
        </p:nvSpPr>
        <p:spPr>
          <a:xfrm>
            <a:off x="0" y="6334200"/>
            <a:ext cx="12191400" cy="658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1600" rIns="90000" bIns="21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1" name="Straight Connector 9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85000"/>
              </a:lnSpc>
              <a:buNone/>
              <a:tabLst>
                <a:tab pos="0" algn="l"/>
              </a:tabLst>
              <a:defRPr lang="en-US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tabLst>
                <a:tab pos="0" algn="l"/>
              </a:tabLst>
            </a:pPr>
            <a:r>
              <a:rPr lang="en-US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800" b="0" u="none" spc="-51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1097280" y="1846080"/>
            <a:ext cx="4937040" cy="73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  <a:defRPr lang="en-US" sz="2000" b="0" u="none" strike="noStrike" cap="all">
                <a:solidFill>
                  <a:schemeClr val="dk2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2000" b="0" u="none" strike="noStrike" cap="all">
                <a:solidFill>
                  <a:schemeClr val="dk2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1097280" y="2582280"/>
            <a:ext cx="4937040" cy="337752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6F6F74"/>
              </a:buClr>
              <a:buFont typeface="Calibri"/>
              <a:buChar char=" "/>
              <a:tabLst>
                <a:tab pos="0" algn="l"/>
              </a:tabLst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5pPr>
          </a:lstStyle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6F6F74"/>
              </a:buClr>
              <a:buFont typeface="Calibri"/>
              <a:buChar char=" 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384120" lvl="1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567000" lvl="2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749880" lvl="3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32760" lvl="4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6217920" y="1846080"/>
            <a:ext cx="4937040" cy="73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  <a:defRPr lang="en-US" sz="2000" b="0" u="none" strike="noStrike" cap="all">
                <a:solidFill>
                  <a:schemeClr val="dk2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2000" b="0" u="none" strike="noStrike" cap="all">
                <a:solidFill>
                  <a:schemeClr val="dk2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body"/>
          </p:nvPr>
        </p:nvSpPr>
        <p:spPr>
          <a:xfrm>
            <a:off x="6217920" y="2582280"/>
            <a:ext cx="4937040" cy="337752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6F6F74"/>
              </a:buClr>
              <a:buFont typeface="Calibri"/>
              <a:buChar char=" "/>
              <a:tabLst>
                <a:tab pos="0" algn="l"/>
              </a:tabLst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defRPr>
            </a:lvl5pPr>
          </a:lstStyle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6F6F74"/>
              </a:buClr>
              <a:buFont typeface="Calibri"/>
              <a:buChar char=" 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384120" lvl="1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567000" lvl="2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749880" lvl="3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Fourth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932760" lvl="4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Fifth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97" name="PlaceHolder 6"/>
          <p:cNvSpPr>
            <a:spLocks noGrp="1"/>
          </p:cNvSpPr>
          <p:nvPr>
            <p:ph type="dt" idx="28"/>
          </p:nvPr>
        </p:nvSpPr>
        <p:spPr>
          <a:xfrm>
            <a:off x="1097280" y="6459840"/>
            <a:ext cx="2471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7"/>
          <p:cNvSpPr>
            <a:spLocks noGrp="1"/>
          </p:cNvSpPr>
          <p:nvPr>
            <p:ph type="ftr" idx="29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8"/>
          <p:cNvSpPr>
            <a:spLocks noGrp="1"/>
          </p:cNvSpPr>
          <p:nvPr>
            <p:ph type="sldNum" idx="30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D15DCE2-D3E4-47DA-9DE1-25B3C4D4EC3C}" type="slidenum"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D1D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6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8"/>
          <p:cNvSpPr/>
          <p:nvPr/>
        </p:nvSpPr>
        <p:spPr>
          <a:xfrm>
            <a:off x="0" y="6334200"/>
            <a:ext cx="12191400" cy="658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1600" rIns="90000" bIns="21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2" name="Straight Connector 9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6350">
            <a:solidFill>
              <a:srgbClr val="808080"/>
            </a:solidFill>
            <a:round/>
          </a:ln>
        </p:spPr>
      </p:cxn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85000"/>
              </a:lnSpc>
              <a:buNone/>
              <a:tabLst>
                <a:tab pos="0" algn="l"/>
              </a:tabLst>
              <a:defRPr lang="en-US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85000"/>
              </a:lnSpc>
              <a:buNone/>
              <a:tabLst>
                <a:tab pos="0" algn="l"/>
              </a:tabLst>
            </a:pPr>
            <a:r>
              <a:rPr lang="en-US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800" b="0" u="none" spc="-51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dt" idx="31"/>
          </p:nvPr>
        </p:nvSpPr>
        <p:spPr>
          <a:xfrm>
            <a:off x="1097280" y="6459840"/>
            <a:ext cx="24714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ftr" idx="32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sldNum" idx="33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0C8AE07-DFA5-49B0-A457-897BC790B7B3}" type="slidenum"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&lt;number&gt;</a:t>
            </a:fld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7680" cy="3565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914400">
              <a:lnSpc>
                <a:spcPct val="85000"/>
              </a:lnSpc>
              <a:buNone/>
              <a:tabLst>
                <a:tab pos="0" algn="l"/>
              </a:tabLst>
            </a:pPr>
            <a:r>
              <a:rPr lang="en-US" sz="8000" b="0" u="none" spc="-5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 Light"/>
              </a:rPr>
              <a:t>Various Bayesian Probability Stuff</a:t>
            </a:r>
            <a:endParaRPr lang="en-US" sz="8000" b="0" u="none" spc="-5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ubTitle"/>
          </p:nvPr>
        </p:nvSpPr>
        <p:spPr>
          <a:xfrm>
            <a:off x="1100160" y="4455720"/>
            <a:ext cx="100576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2400" b="0" u="none" spc="201" strike="noStrike" cap="all">
                <a:solidFill>
                  <a:schemeClr val="dk2"/>
                </a:solidFill>
                <a:effectLst/>
                <a:uFillTx/>
                <a:latin typeface="Calibri Light"/>
              </a:rPr>
              <a:t>Travis Asher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914400">
              <a:lnSpc>
                <a:spcPct val="85000"/>
              </a:lnSpc>
              <a:buNone/>
              <a:tabLst>
                <a:tab pos="0" algn="l"/>
              </a:tabLst>
            </a:pPr>
            <a:r>
              <a:rPr lang="en-US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Prior and Posterior Probability</a:t>
            </a:r>
            <a:endParaRPr lang="en-US" sz="4800" b="0" u="none" spc="-51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pic>
        <p:nvPicPr>
          <p:cNvPr id="110" name="Content Placeholder 4"/>
          <p:cNvPicPr/>
          <p:nvPr/>
        </p:nvPicPr>
        <p:blipFill>
          <a:blip r:embed="rId1"/>
          <a:srcRect l="0" t="0" r="0" b="18825"/>
          <a:stretch/>
        </p:blipFill>
        <p:spPr>
          <a:xfrm>
            <a:off x="1013400" y="4471200"/>
            <a:ext cx="10164240" cy="177372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  <p:sp>
        <p:nvSpPr>
          <p:cNvPr id="111" name="Content Placeholder 2"/>
          <p:cNvSpPr/>
          <p:nvPr/>
        </p:nvSpPr>
        <p:spPr>
          <a:xfrm>
            <a:off x="6179400" y="1828800"/>
            <a:ext cx="5164920" cy="26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0000" lnSpcReduction="19999"/>
          </a:bodyPr>
          <a:p>
            <a:pPr defTabSz="457200">
              <a:lnSpc>
                <a:spcPct val="100000"/>
              </a:lnSpc>
              <a:spcBef>
                <a:spcPts val="680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3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Posterior Probability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6F6F74"/>
              </a:buClr>
              <a:buSzPct val="115000"/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Information obtained by updating prior information from an experiment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6F6F74"/>
              </a:buClr>
              <a:buSzPct val="115000"/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Is a conditional probability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6F6F74"/>
              </a:buClr>
              <a:buSzPct val="115000"/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If event B is event representing the results of some experiment, then: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6F6F74"/>
              </a:buClr>
              <a:buSzPct val="115000"/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Updated probability of event A is conditional on event B having occurred: </a:t>
            </a:r>
            <a:r>
              <a:rPr lang="en-US" sz="20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P(A|B)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6F6F74"/>
              </a:buClr>
              <a:buSzPct val="115000"/>
              <a:buFont typeface="Arial"/>
              <a:buChar char="•"/>
              <a:tabLst>
                <a:tab pos="0" algn="l"/>
              </a:tabLst>
            </a:pPr>
            <a:r>
              <a:rPr lang="en-US" sz="20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P(A|B)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 is the </a:t>
            </a:r>
            <a:r>
              <a:rPr lang="en-US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posterior probability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Content Placeholder 2"/>
          <p:cNvSpPr/>
          <p:nvPr/>
        </p:nvSpPr>
        <p:spPr>
          <a:xfrm>
            <a:off x="1013400" y="1828800"/>
            <a:ext cx="5164920" cy="26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 defTabSz="4572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Prior Probability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6F6F74"/>
              </a:buClr>
              <a:buSzPct val="115000"/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Information known before an experiment takes place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6F6F74"/>
              </a:buClr>
              <a:buSzPct val="115000"/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Aka </a:t>
            </a:r>
            <a:r>
              <a:rPr lang="en-US" sz="24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a priori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 probability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6F6F74"/>
              </a:buClr>
              <a:buSzPct val="115000"/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If inference is desired on some event A, then: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6F6F74"/>
              </a:buClr>
              <a:buSzPct val="115000"/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Probability of event A is </a:t>
            </a:r>
            <a:r>
              <a:rPr lang="en-US" sz="20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P(A)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6F6F74"/>
              </a:buClr>
              <a:buSzPct val="115000"/>
              <a:buFont typeface="Arial"/>
              <a:buChar char="•"/>
              <a:tabLst>
                <a:tab pos="0" algn="l"/>
              </a:tabLst>
            </a:pPr>
            <a:r>
              <a:rPr lang="en-US" sz="20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P(A)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 is the </a:t>
            </a:r>
            <a:r>
              <a:rPr lang="en-US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prior probability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914400">
              <a:lnSpc>
                <a:spcPct val="85000"/>
              </a:lnSpc>
              <a:buNone/>
              <a:tabLst>
                <a:tab pos="0" algn="l"/>
              </a:tabLst>
            </a:pPr>
            <a:r>
              <a:rPr lang="en-US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Clarifying the Textbook’s Notation for Probability</a:t>
            </a:r>
            <a:endParaRPr lang="en-US" sz="4800" b="0" u="none" spc="-51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37040" cy="1457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Autofit/>
          </a:bodyPr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6F6F74"/>
              </a:buClr>
              <a:buFont typeface="Calibri"/>
              <a:buChar char=" "/>
            </a:pPr>
            <a:r>
              <a:rPr lang="en-US" sz="20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Probability of a Random Variable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384120" lvl="1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Consider some random variable </a:t>
            </a:r>
            <a:r>
              <a:rPr lang="en-US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X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384120" lvl="1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To speak of the probability of </a:t>
            </a:r>
            <a:r>
              <a:rPr lang="en-US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X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, our book would write: </a:t>
            </a:r>
            <a:r>
              <a:rPr lang="en-US" sz="1800" b="0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p(</a:t>
            </a:r>
            <a:r>
              <a:rPr lang="en-US" sz="18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X</a:t>
            </a:r>
            <a:r>
              <a:rPr lang="en-US" sz="1800" b="0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)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6217920" y="1845720"/>
            <a:ext cx="4937040" cy="1457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Autofit/>
          </a:bodyPr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6F6F74"/>
              </a:buClr>
              <a:buFont typeface="Calibri"/>
              <a:buChar char=" "/>
            </a:pPr>
            <a:r>
              <a:rPr lang="en-US" sz="20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Probability of an Event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384120" lvl="1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Consider some event</a:t>
            </a:r>
            <a:r>
              <a:rPr lang="en-US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A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384120" lvl="1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To speak of the probability of A, our book would write: </a:t>
            </a:r>
            <a:r>
              <a:rPr lang="en-US" sz="1800" b="0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Pr(A)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pic>
        <p:nvPicPr>
          <p:cNvPr id="116" name="Picture 6"/>
          <p:cNvPicPr/>
          <p:nvPr/>
        </p:nvPicPr>
        <p:blipFill>
          <a:blip r:embed="rId1"/>
          <a:srcRect l="0" t="0" r="10716" b="4395"/>
          <a:stretch/>
        </p:blipFill>
        <p:spPr>
          <a:xfrm>
            <a:off x="1431000" y="3304080"/>
            <a:ext cx="4269240" cy="294948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  <p:pic>
        <p:nvPicPr>
          <p:cNvPr id="117" name="Picture 7"/>
          <p:cNvPicPr/>
          <p:nvPr/>
        </p:nvPicPr>
        <p:blipFill>
          <a:blip r:embed="rId2"/>
          <a:srcRect l="7998" t="4597" r="5636" b="9871"/>
          <a:stretch/>
        </p:blipFill>
        <p:spPr>
          <a:xfrm>
            <a:off x="6551640" y="3304080"/>
            <a:ext cx="4263480" cy="294948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914400">
              <a:lnSpc>
                <a:spcPct val="85000"/>
              </a:lnSpc>
              <a:buNone/>
              <a:tabLst>
                <a:tab pos="0" algn="l"/>
              </a:tabLst>
            </a:pPr>
            <a:r>
              <a:rPr lang="en-US" sz="4800" b="0" u="none" spc="-51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Clarifying the Textbook’s Notation for Probability (Cont.)</a:t>
            </a:r>
            <a:endParaRPr lang="en-US" sz="4800" b="0" u="none" spc="-51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1097280" y="1780200"/>
            <a:ext cx="10057680" cy="184932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t">
            <a:normAutofit fontScale="85000" lnSpcReduction="9999"/>
          </a:bodyPr>
          <a:p>
            <a:pPr marL="91440" indent="-9144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6F6F74"/>
              </a:buClr>
              <a:buFont typeface="Calibri"/>
              <a:buChar char=" "/>
            </a:pPr>
            <a:r>
              <a:rPr lang="en-US" sz="20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Q: Cool, now why? 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Although seemingly arbitrary, this is done for good reason.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384120" lvl="1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Random Variable vs Event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567000" lvl="2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Both objects are very different from each other: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749880" lvl="3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Random variables are sets </a:t>
            </a:r>
            <a:r>
              <a:rPr lang="en-US" sz="1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containing elements from the real number line</a:t>
            </a: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(</a:t>
            </a:r>
            <a:r>
              <a:rPr lang="en-US" sz="1400" b="0" u="sng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THINK: RVS ARE NUMBERS</a:t>
            </a: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)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749880" lvl="3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Events are just sets; that is, events are some collection of </a:t>
            </a:r>
            <a:r>
              <a:rPr lang="en-US" sz="1400" b="0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any</a:t>
            </a: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general thing (</a:t>
            </a:r>
            <a:r>
              <a:rPr lang="en-US" sz="1400" b="0" u="sng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THINK: EVENTS ARE ANYTHING AT ALL</a:t>
            </a: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)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749880" lvl="3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Illustrations of random variables and events are provided on the previous page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567000" lvl="2" indent="-182880" algn="l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6F6F74"/>
              </a:buClr>
              <a:buFont typeface="Calibri"/>
              <a:buChar char="◦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However, they are related: a random variable is simply a mapping of each element of an event to a distinct number in the real number line </a:t>
            </a: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(see figure below for more details)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pic>
        <p:nvPicPr>
          <p:cNvPr id="120" name="Picture 3"/>
          <p:cNvPicPr/>
          <p:nvPr/>
        </p:nvPicPr>
        <p:blipFill>
          <a:blip r:embed="rId1"/>
          <a:srcRect l="0" t="3012" r="0" b="3150"/>
          <a:stretch/>
        </p:blipFill>
        <p:spPr>
          <a:xfrm>
            <a:off x="1097280" y="3486240"/>
            <a:ext cx="10057680" cy="17139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  <p:sp>
        <p:nvSpPr>
          <p:cNvPr id="121" name="TextBox 4"/>
          <p:cNvSpPr/>
          <p:nvPr/>
        </p:nvSpPr>
        <p:spPr>
          <a:xfrm>
            <a:off x="1097280" y="5200560"/>
            <a:ext cx="10057680" cy="1045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general idea illustrated in the above figure is that the notion of “probability” is a mapping from a </a:t>
            </a: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space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to some value between 0 and 1; here, </a:t>
            </a: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space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can refer to either a space of events or a space of random variables. To make use of the concept of random variables, you bifurcate the direct mapping from the space of events to the space of probabilities (which is: </a:t>
            </a:r>
            <a:r>
              <a:rPr lang="en-US" sz="11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 A -&gt; [0,1] ) into two mappings: the map </a:t>
            </a: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X</a:t>
            </a:r>
            <a:r>
              <a:rPr lang="en-US" sz="11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-&gt; </a:t>
            </a: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(where ‘</a:t>
            </a: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’ is the real number line) and the map </a:t>
            </a:r>
            <a:r>
              <a:rPr lang="en-US" sz="11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 </a:t>
            </a: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-&gt; [0,1]. Thus, the mapping </a:t>
            </a:r>
            <a:r>
              <a:rPr lang="en-US" sz="11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Pr(A) = p(</a:t>
            </a:r>
            <a:r>
              <a:rPr lang="en-US" sz="1100" b="1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X</a:t>
            </a:r>
            <a:r>
              <a:rPr lang="en-US" sz="11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(A)) = (p∘</a:t>
            </a:r>
            <a:r>
              <a:rPr lang="en-US" sz="1100" b="1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X</a:t>
            </a:r>
            <a:r>
              <a:rPr lang="en-US" sz="11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)(A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), where </a:t>
            </a:r>
            <a:r>
              <a:rPr lang="en-US" sz="11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(p∘</a:t>
            </a:r>
            <a:r>
              <a:rPr lang="en-US" sz="1100" b="1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X</a:t>
            </a:r>
            <a:r>
              <a:rPr lang="en-US" sz="11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 A -&gt; [0,1]</a:t>
            </a: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*NOTE: The above notation does </a:t>
            </a:r>
            <a:r>
              <a:rPr lang="en-US" sz="900" b="1" i="1" u="sng" strike="noStrike">
                <a:solidFill>
                  <a:schemeClr val="dk1"/>
                </a:solidFill>
                <a:effectLst/>
                <a:uFillTx/>
                <a:latin typeface="Arial"/>
              </a:rPr>
              <a:t>not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use the R-INLA textbook’s conventions of </a:t>
            </a:r>
            <a:r>
              <a:rPr lang="en-US" sz="9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 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versus </a:t>
            </a:r>
            <a:r>
              <a:rPr lang="en-US" sz="9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as it was written by me for use in a different statistics class. However, all ‘P’s and ‘</a:t>
            </a:r>
            <a:r>
              <a:rPr lang="el-GR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ρ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’s with the subscript X above would be written as </a:t>
            </a:r>
            <a:r>
              <a:rPr lang="en-US" sz="9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p(•)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in the INLA textbook’s notation; the ‘P’s above sans subscript would correspond to </a:t>
            </a:r>
            <a:r>
              <a:rPr lang="en-US" sz="9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Pr(•)</a:t>
            </a: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in the INLA textbook’s notation.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46464A"/>
      </a:dk2>
      <a:lt2>
        <a:srgbClr val="D1D9E1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Application>LibreOffice/26.2.5.2$Windows_X86_64 LibreOffice_project/cd7284b4cbbfeb507e630c1aac019f4157393acb</Application>
  <AppVersion>15.0000</AppVersion>
  <Words>502</Words>
  <Paragraphs>32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2026-09-14T21:40:01Z</dcterms:created>
  <dc:creator/>
  <dc:description/>
  <dc:language>en-US</dc:language>
  <cp:lastModifiedBy/>
  <cp:revision>1</cp:revision>
  <dc:subject/>
  <dc:title>Various Bayesian Probability Stuff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4</vt:i4>
  </property>
</Properties>
</file>